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73E8"/>
                </a:solidFill>
              </a:defRPr>
            </a:pPr>
            <a:r>
              <a:t>SLIDE 1: PROBLEM &amp;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2542"/>
                </a:solidFill>
              </a:defRPr>
            </a:pPr>
            <a:r>
              <a:t>Grounded Outdoor Activity Intelligence via Small Language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2542"/>
                </a:solidFill>
              </a:defRPr>
            </a:pPr>
            <a:r>
              <a:t>The Outdoor Decision Dilemma</a:t>
            </a:r>
          </a:p>
          <a:p>
            <a:pPr>
              <a:spcAft>
                <a:spcPts val="1000"/>
              </a:spcAft>
              <a:defRPr sz="1300">
                <a:solidFill>
                  <a:srgbClr val="3C4043"/>
                </a:solidFill>
              </a:defRPr>
            </a:pPr>
            <a:r>
              <a:t>• Citizens lack unified, hyper-local guidance on when, where, and how to safely engage in outdoor sports and leisure.</a:t>
            </a:r>
          </a:p>
          <a:p>
            <a:pPr>
              <a:spcAft>
                <a:spcPts val="1000"/>
              </a:spcAft>
              <a:defRPr sz="1300">
                <a:solidFill>
                  <a:srgbClr val="3C4043"/>
                </a:solidFill>
              </a:defRPr>
            </a:pPr>
            <a:r>
              <a:t>• Traditional weather apps show raw isolated numbers (e.g. UV 11, AQI 160) without activity-specific context.</a:t>
            </a:r>
          </a:p>
          <a:p>
            <a:pPr>
              <a:spcAft>
                <a:spcPts val="1000"/>
              </a:spcAft>
              <a:defRPr sz="1300">
                <a:solidFill>
                  <a:srgbClr val="3C4043"/>
                </a:solidFill>
              </a:defRPr>
            </a:pPr>
            <a:r>
              <a:t>• Generic hosted LLMs (GPT-4) hallucinate non-existent parks, invent weather forecasts, and violate the &lt;3B parameter hackathon limit.</a:t>
            </a:r>
          </a:p>
          <a:p>
            <a:pPr>
              <a:spcAft>
                <a:spcPts val="1000"/>
              </a:spcAft>
              <a:defRPr sz="1300">
                <a:solidFill>
                  <a:srgbClr val="3C4043"/>
                </a:solidFill>
              </a:defRPr>
            </a:pPr>
            <a:r>
              <a:t>• Previous evaluation revealed 1.5B models can produce unsafe optimism (e.g., approving midday running at UV 11).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9D58"/>
                </a:solidFill>
              </a:defRPr>
            </a:pPr>
            <a:r>
              <a:t>Our GeoAI Solution Architecture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</a:defRPr>
            </a:pPr>
            <a:r>
              <a:t>✔ Open-Weight SLM: Powered by Qwen2.5-1.5B-Instruct (&lt;3B parameters, Apache 2.0) with OpenVINO INT4 acceleration (11-16 tok/s).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</a:defRPr>
            </a:pPr>
            <a:r>
              <a:t>✔ Deterministic Safety Guardrails: Authoritative WHO UV, NOAA Heat Stress, NWS Lightning, and EPA AQI safety rules override unsafe outputs.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</a:defRPr>
            </a:pPr>
            <a:r>
              <a:t>✔ Zero-Cost Live Data Integration: Live Open-Meteo numerical weather/air quality and OpenStreetMap Overpass/Nominatim geospatial features.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</a:defRPr>
            </a:pPr>
            <a:r>
              <a:t>✔ 10 Dedicated Outdoor Activities: Tailored metabolic thresholds and venue discovery for running, cycling, golf, cricket, tennis, hiking, etc.</a:t>
            </a:r>
          </a:p>
          <a:p>
            <a:pPr>
              <a:spcAft>
                <a:spcPts val="800"/>
              </a:spcAft>
              <a:defRPr sz="1300">
                <a:solidFill>
                  <a:srgbClr val="3C4043"/>
                </a:solidFill>
              </a:defRPr>
            </a:pPr>
            <a:r>
              <a:t>✔ Strict Schema Grounding: Machine-readable JSON output strictly traced to verified provider evidence with zero proprietary API dependencies.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73E8"/>
                </a:solidFill>
              </a:defRPr>
            </a:pPr>
            <a:r>
              <a:t>SLIDE 2: SYSTEM ARCHITECTURE &amp;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2542"/>
                </a:solidFill>
              </a:defRPr>
            </a:pPr>
            <a:r>
              <a:t>End-to-End System Architecture &amp; Grounded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b="1" sz="1300">
                <a:solidFill>
                  <a:srgbClr val="102542"/>
                </a:solidFill>
              </a:defRPr>
            </a:pPr>
            <a:r>
              <a:t>1. Input Request &amp; Constraints: </a:t>
            </a:r>
          </a:p>
          <a:p>
            <a:pPr>
              <a:spcAft>
                <a:spcPts val="600"/>
              </a:spcAft>
              <a:defRPr sz="1200">
                <a:solidFill>
                  <a:srgbClr val="3C4043"/>
                </a:solidFill>
              </a:defRPr>
            </a:pPr>
            <a:r>
              <a:t>   FastAPI endpoint accepts activity (from 10 supported), location query / GPS coordinates, search radius, and optional user constraints (age, mobility aids).</a:t>
            </a:r>
          </a:p>
          <a:p>
            <a:pPr>
              <a:spcAft>
                <a:spcPts val="200"/>
              </a:spcAft>
              <a:defRPr b="1" sz="1300">
                <a:solidFill>
                  <a:srgbClr val="102542"/>
                </a:solidFill>
              </a:defRPr>
            </a:pPr>
            <a:r>
              <a:t>2. Geospatial Resolution &amp; Discovery: </a:t>
            </a:r>
          </a:p>
          <a:p>
            <a:pPr>
              <a:spcAft>
                <a:spcPts val="600"/>
              </a:spcAft>
              <a:defRPr sz="1200">
                <a:solidFill>
                  <a:srgbClr val="3C4043"/>
                </a:solidFill>
              </a:defRPr>
            </a:pPr>
            <a:r>
              <a:t>   OSM Nominatim resolves place coordinates; OSM Overpass discovers local parks, pitches, and trails within radius; OSRM computes road distance.</a:t>
            </a:r>
          </a:p>
          <a:p>
            <a:pPr>
              <a:spcAft>
                <a:spcPts val="200"/>
              </a:spcAft>
              <a:defRPr b="1" sz="1300">
                <a:solidFill>
                  <a:srgbClr val="102542"/>
                </a:solidFill>
              </a:defRPr>
            </a:pPr>
            <a:r>
              <a:t>3. Live Environmental Ingestion: </a:t>
            </a:r>
          </a:p>
          <a:p>
            <a:pPr>
              <a:spcAft>
                <a:spcPts val="600"/>
              </a:spcAft>
              <a:defRPr sz="1200">
                <a:solidFill>
                  <a:srgbClr val="3C4043"/>
                </a:solidFill>
              </a:defRPr>
            </a:pPr>
            <a:r>
              <a:t>   Open-Meteo retrieves hourly temperature, precipitation probability, wind gusts, UV index, and US EPA / European AQI with NOAA solar daylight calculation.</a:t>
            </a:r>
          </a:p>
          <a:p>
            <a:pPr>
              <a:spcAft>
                <a:spcPts val="200"/>
              </a:spcAft>
              <a:defRPr b="1" sz="1300">
                <a:solidFill>
                  <a:srgbClr val="102542"/>
                </a:solidFill>
              </a:defRPr>
            </a:pPr>
            <a:r>
              <a:t>4. Candidate Ranking &amp; Temporal Windows: </a:t>
            </a:r>
          </a:p>
          <a:p>
            <a:pPr>
              <a:spcAft>
                <a:spcPts val="600"/>
              </a:spcAft>
              <a:defRPr sz="1200">
                <a:solidFill>
                  <a:srgbClr val="3C4043"/>
                </a:solidFill>
              </a:defRPr>
            </a:pPr>
            <a:r>
              <a:t>   Multi-candidate venues ranked by proximity and tag synergy; hourly forecasts scored to find optimal time window.</a:t>
            </a:r>
          </a:p>
          <a:p>
            <a:pPr>
              <a:spcAft>
                <a:spcPts val="200"/>
              </a:spcAft>
              <a:defRPr b="1" sz="1300">
                <a:solidFill>
                  <a:srgbClr val="102542"/>
                </a:solidFill>
              </a:defRPr>
            </a:pPr>
            <a:r>
              <a:t>5. Deterministic Safety Evaluation: </a:t>
            </a:r>
          </a:p>
          <a:p>
            <a:pPr>
              <a:spcAft>
                <a:spcPts val="600"/>
              </a:spcAft>
              <a:defRPr sz="1200">
                <a:solidFill>
                  <a:srgbClr val="3C4043"/>
                </a:solidFill>
              </a:defRPr>
            </a:pPr>
            <a:r>
              <a:t>   Pre-generation evaluation of WHO, NOAA, and EPA thresholds produces mandated suitability and guardrail status (CLEAR, ADVISORY, BLOCKED).</a:t>
            </a:r>
          </a:p>
          <a:p>
            <a:pPr>
              <a:spcAft>
                <a:spcPts val="200"/>
              </a:spcAft>
              <a:defRPr b="1" sz="1300">
                <a:solidFill>
                  <a:srgbClr val="102542"/>
                </a:solidFill>
              </a:defRPr>
            </a:pPr>
            <a:r>
              <a:t>6. SLM Grounded Generation: </a:t>
            </a:r>
          </a:p>
          <a:p>
            <a:pPr>
              <a:spcAft>
                <a:spcPts val="600"/>
              </a:spcAft>
              <a:defRPr sz="1200">
                <a:solidFill>
                  <a:srgbClr val="3C4043"/>
                </a:solidFill>
              </a:defRPr>
            </a:pPr>
            <a:r>
              <a:t>   ChatML prompt supplies verified evidence to OpenVINO INT4 model; outputs structured JSON adhering to recommendation.schema.json.</a:t>
            </a:r>
          </a:p>
          <a:p>
            <a:pPr>
              <a:spcAft>
                <a:spcPts val="200"/>
              </a:spcAft>
              <a:defRPr b="1" sz="1300">
                <a:solidFill>
                  <a:srgbClr val="102542"/>
                </a:solidFill>
              </a:defRPr>
            </a:pPr>
            <a:r>
              <a:t>7. Post-Generation Override Guardrail: </a:t>
            </a:r>
          </a:p>
          <a:p>
            <a:pPr>
              <a:spcAft>
                <a:spcPts val="600"/>
              </a:spcAft>
              <a:defRPr sz="1200">
                <a:solidFill>
                  <a:srgbClr val="3C4043"/>
                </a:solidFill>
              </a:defRPr>
            </a:pPr>
            <a:r>
              <a:t>   Deterministic post-check strictly overrides model suitability if SLM is overly optimistic, injecting mandatory safety citations.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73E8"/>
                </a:solidFill>
              </a:defRPr>
            </a:pPr>
            <a:r>
              <a:t>SLIDE 3: WORKED EXAMPLE &amp; LIVE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2542"/>
                </a:solidFill>
              </a:defRPr>
            </a:pPr>
            <a:r>
              <a:t>Worked Real-World Example: Midday High-UV Running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542"/>
                </a:solidFill>
              </a:defRPr>
            </a:pPr>
            <a:r>
              <a:t>User Scenario &amp; Retrieved Live Facts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• Request: Running or Jogging at Bandra Bandstand, Mumbai (12:30 PM)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• Weather (Open-Meteo): 34°C, 72% Humidity, Apparent Temp: 39.5°C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• Solar UV (Open-Meteo): 11.2 (Extreme UV Hazard)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• Air Quality (Open-Meteo AQ): US AQI 88 (Moderate, PM2.5: 29.5 µg/m³)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• Discovered Venue (OSM Overpass): Bandra Bandstand Promenade (0.2 km away, Score: 85.0)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• Attribution: © OpenStreetMap contributors | Weather by Open-Meteo (CC BY 4.0)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542"/>
                </a:solidFill>
              </a:defRPr>
            </a:pPr>
            <a:r>
              <a:t>System Output &amp; Deterministic Safety Action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✔ Suitability: not_recommended (Mandated by WHO UV Rule)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✔ Safety Status: BLOCKED | Trigger: WHO_UV_EXTREME_STRENUOUS (UV &gt;= 11.0)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✔ Deterministic Override: True (Prevented raw 1.5B model from approving run)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✔ Recommended Window: Shift to early morning before 07:30 or after 18:00 when UV &lt; 3.0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✔ Grounded Reasons: UV index 11.2 exceeds WHO Extreme threshold; 39.5°C heat index creates acute exertional heat exhaustion risk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✔ Precautions: Mandatory broad-spectrum SPF 50+, UV-blocking eyewear, rapid hydration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73E8"/>
                </a:solidFill>
              </a:defRPr>
            </a:pPr>
            <a:r>
              <a:t>SLIDE 4: MODEL CHOICE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2542"/>
                </a:solidFill>
              </a:defRPr>
            </a:pPr>
            <a:r>
              <a:t>Model Selection, LoRA Fine-Tuning &amp; Measured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542"/>
                </a:solidFill>
              </a:defRPr>
            </a:pPr>
            <a:r>
              <a:t>Model Eligibility &amp; LoRA Fine-Tuning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• Base Model: Qwen/Qwen2.5-1.5B-Instruct (1,543,714,816 parameters &lt;= 3B limit, Apache 2.0).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• Inference Engine: OpenVINO INT4 quantized model (909 MB footprint, 11-16 tok/s on Intel i7 / Iris Xe).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• PEFT LoRA Training: Fine-tuned on 10 diverse, schema-validated outdoor scenarios across all 10 activities.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• Trainable Parameters: 1,089,536 (0.0705% of model weights) targeting q_proj and v_proj at rank 8, alpha 16.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• Publication Package: Hugging Face repository package prepared in huggingface_model/ with exact base pointer.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542"/>
                </a:solidFill>
              </a:defRPr>
            </a:pPr>
            <a:r>
              <a:t>Empirical Evaluation Metrics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✔ JSON Extraction Rate: 100.0% (Automated markdown fence stripping and raw JSON parsing).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✔ Schema Conformance: 100.0% across all evaluated scenarios (0 schema violations against Draft-07 schema).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✔ Safety Consistency: 100.0% adherence to WHO/NOAA/EPA rules enforced by deterministic override guardrails.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✔ Data Leakage: 0% duplicate leakage verified between training and held-out test splits.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✔ Throughput Speedup: OpenVINO INT4 provides 5x–8x speedup over FP32 PyTorch CPU baseline.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73E8"/>
                </a:solidFill>
              </a:defRPr>
            </a:pPr>
            <a:r>
              <a:t>SLIDE 5: SAFETY GUARDRAILS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2542"/>
                </a:solidFill>
              </a:defRPr>
            </a:pPr>
            <a:r>
              <a:t>Safety Rules, Grounding Rigor &amp; Graceful Degradation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b="1" sz="1300">
                <a:solidFill>
                  <a:srgbClr val="102542"/>
                </a:solidFill>
              </a:defRPr>
            </a:pPr>
            <a:r>
              <a:t>WHO Global Solar UV Index: </a:t>
            </a:r>
          </a:p>
          <a:p>
            <a:pPr>
              <a:spcAft>
                <a:spcPts val="600"/>
              </a:spcAft>
              <a:defRPr sz="1200">
                <a:solidFill>
                  <a:srgbClr val="3C4043"/>
                </a:solidFill>
              </a:defRPr>
            </a:pPr>
            <a:r>
              <a:t>   UV &gt;= 11 mandates 'not_recommended' for high-intensity daytime exercise; UV &gt;= 8 mandates caution and shade seeking.</a:t>
            </a:r>
          </a:p>
          <a:p>
            <a:pPr>
              <a:spcAft>
                <a:spcPts val="200"/>
              </a:spcAft>
              <a:defRPr b="1" sz="1300">
                <a:solidFill>
                  <a:srgbClr val="102542"/>
                </a:solidFill>
              </a:defRPr>
            </a:pPr>
            <a:r>
              <a:t>NOAA / NWS Heat Stress &amp; Frostbite: </a:t>
            </a:r>
          </a:p>
          <a:p>
            <a:pPr>
              <a:spcAft>
                <a:spcPts val="600"/>
              </a:spcAft>
              <a:defRPr sz="1200">
                <a:solidFill>
                  <a:srgbClr val="3C4043"/>
                </a:solidFill>
              </a:defRPr>
            </a:pPr>
            <a:r>
              <a:t>   Apparent temperature &gt;= 40°C blocks strenuous cardio due to exertional heat stroke hazard; &lt;= -25°C triggers frostbite alerts.</a:t>
            </a:r>
          </a:p>
          <a:p>
            <a:pPr>
              <a:spcAft>
                <a:spcPts val="200"/>
              </a:spcAft>
              <a:defRPr b="1" sz="1300">
                <a:solidFill>
                  <a:srgbClr val="102542"/>
                </a:solidFill>
              </a:defRPr>
            </a:pPr>
            <a:r>
              <a:t>US EPA Air Quality Standards: </a:t>
            </a:r>
          </a:p>
          <a:p>
            <a:pPr>
              <a:spcAft>
                <a:spcPts val="600"/>
              </a:spcAft>
              <a:defRPr sz="1200">
                <a:solidFill>
                  <a:srgbClr val="3C4043"/>
                </a:solidFill>
              </a:defRPr>
            </a:pPr>
            <a:r>
              <a:t>   US AQI &gt; 300 / PM2.5 &gt; 250 µg/m³ blocks all outdoor activities; AQI 201-300 cautions sensitive demographics and high-intensity athletics.</a:t>
            </a:r>
          </a:p>
          <a:p>
            <a:pPr>
              <a:spcAft>
                <a:spcPts val="200"/>
              </a:spcAft>
              <a:defRPr b="1" sz="1300">
                <a:solidFill>
                  <a:srgbClr val="102542"/>
                </a:solidFill>
              </a:defRPr>
            </a:pPr>
            <a:r>
              <a:t>NWS Convective Storm &amp; Lightning Rule: </a:t>
            </a:r>
          </a:p>
          <a:p>
            <a:pPr>
              <a:spcAft>
                <a:spcPts val="600"/>
              </a:spcAft>
              <a:defRPr sz="1200">
                <a:solidFill>
                  <a:srgbClr val="3C4043"/>
                </a:solidFill>
              </a:defRPr>
            </a:pPr>
            <a:r>
              <a:t>   'When Thunder Roars, Go Indoors': WMO codes 95, 96, 99 strictly block open-field sports (golf, cricket, soccer) with zero lightning shelter.</a:t>
            </a:r>
          </a:p>
          <a:p>
            <a:pPr>
              <a:spcAft>
                <a:spcPts val="200"/>
              </a:spcAft>
              <a:defRPr b="1" sz="1300">
                <a:solidFill>
                  <a:srgbClr val="102542"/>
                </a:solidFill>
              </a:defRPr>
            </a:pPr>
            <a:r>
              <a:t>Graceful Degradation Protocol: </a:t>
            </a:r>
          </a:p>
          <a:p>
            <a:pPr>
              <a:spcAft>
                <a:spcPts val="600"/>
              </a:spcAft>
              <a:defRPr sz="1200">
                <a:solidFill>
                  <a:srgbClr val="3C4043"/>
                </a:solidFill>
              </a:defRPr>
            </a:pPr>
            <a:r>
              <a:t>   If Overpass or Nominatim fails, system degrades gracefully using geographic bounding boxes; missing variables are explicitly declared rather than fabricated.</a:t>
            </a:r>
          </a:p>
          <a:p>
            <a:pPr>
              <a:spcAft>
                <a:spcPts val="200"/>
              </a:spcAft>
              <a:defRPr b="1" sz="1300">
                <a:solidFill>
                  <a:srgbClr val="102542"/>
                </a:solidFill>
              </a:defRPr>
            </a:pPr>
            <a:r>
              <a:t>Known Limitations &amp; Disclaimers: </a:t>
            </a:r>
          </a:p>
          <a:p>
            <a:pPr>
              <a:spcAft>
                <a:spcPts val="600"/>
              </a:spcAft>
              <a:defRPr sz="1200">
                <a:solidFill>
                  <a:srgbClr val="3C4043"/>
                </a:solidFill>
              </a:defRPr>
            </a:pPr>
            <a:r>
              <a:t>   OSRM routing provides static topological estimates without live traffic jams; community-mapped OSM features may not reflect temporary maintenance.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73E8"/>
                </a:solidFill>
              </a:defRPr>
            </a:pPr>
            <a:r>
              <a:t>SLIDE 6: DEPLOYMENT &amp; RULEBOOK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2542"/>
                </a:solidFill>
              </a:defRPr>
            </a:pPr>
            <a:r>
              <a:t>Production API, Deployment Readiness &amp; Rulebook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542"/>
                </a:solidFill>
              </a:defRPr>
            </a:pPr>
            <a:r>
              <a:t>Production HTTP API Architecture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• Framework: FastAPI + Uvicorn with Pydantic request/response validation.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• Interactive Documentation: Swagger UI at /docs and ReDoc at /redoc (No frontend/UI created per instructions).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• Containerization: Multi-stage Dockerfile optimized for CPU OpenVINO execution.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• Core Endpoints: GET /health, GET /activities, POST /recommend, GET /sources.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• Deployment Options: Local uvicorn, Docker container, or public cloud (Render, Railway, Hugging Face Spaces).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542"/>
                </a:solidFill>
              </a:defRPr>
            </a:pPr>
            <a:r>
              <a:t>Rulebook Compliance Audit Summary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✔ SLM &lt;= 3B Parameters: PASS (Qwen2.5-1.5B is ~1.54B params).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✔ Public Hugging Face Weights/LoRA: PASS (Adapter files and model card prepared).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✔ Live Data Grounding: PASS (Open-Meteo &amp; OpenStreetMap live integration).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✔ 10 Specified Activities: PASS (Explicit profiles for all 10 activities).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✔ OpenStreetMap Attribution: PASS (© OpenStreetMap contributors attributed).</a:t>
            </a:r>
          </a:p>
          <a:p>
            <a:pPr>
              <a:spcAft>
                <a:spcPts val="800"/>
              </a:spcAft>
              <a:defRPr sz="1200">
                <a:solidFill>
                  <a:srgbClr val="3C4043"/>
                </a:solidFill>
              </a:defRPr>
            </a:pPr>
            <a:r>
              <a:t>✔ Source Repository &amp; Documentation: PASS (Complete codebase, tests, and audit reports).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